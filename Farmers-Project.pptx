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Archivo Black"/>
      <p:regular r:id="rId201314"/>
    </p:embeddedFont>
    <p:embeddedFont>
      <p:font typeface="Carlito"/>
      <p:regular r:id="rId201315"/>
    </p:embeddedFont>
    <p:embeddedFont>
      <p:font typeface="Carlito Bold"/>
      <p:regular r:id="rId201316"/>
    </p:embeddedFont>
    <p:embeddedFont>
      <p:font typeface="Crimson Text"/>
      <p:regular r:id="rId201317"/>
    </p:embeddedFont>
    <p:embeddedFont>
      <p:font typeface="Crimson Text Bold"/>
      <p:regular r:id="rId201318"/>
    </p:embeddedFont>
    <p:embeddedFont>
      <p:font typeface="DM Serif Display"/>
      <p:regular r:id="rId201319"/>
    </p:embeddedFont>
    <p:embeddedFont>
      <p:font typeface="Rethink Sans SemiBold"/>
      <p:regular r:id="rId201320"/>
    </p:embeddedFont>
    <p:embeddedFont>
      <p:font typeface="Rethink Sans Bold"/>
      <p:regular r:id="rId201321"/>
    </p:embeddedFont>
    <p:embeddedFont>
      <p:font typeface="Rethink Sans"/>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3D3C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3D3C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721407" cy="6858000"/>
          </a:xfrm>
          <a:prstGeom prst="rect">
            <a:avLst/>
          </a:prstGeom>
          <a:solidFill>
            <a:srgbClr val="FFF8F2"/>
          </a:solidFill>
          <a:ln/>
        </p:spPr>
      </p:sp>
      <p:sp>
        <p:nvSpPr>
          <p:cNvPr id="3" name="Text 1"/>
          <p:cNvSpPr/>
          <p:nvPr/>
        </p:nvSpPr>
        <p:spPr>
          <a:xfrm>
            <a:off x="609585" y="984250"/>
            <a:ext cx="6629234" cy="3730625"/>
          </a:xfrm>
          <a:prstGeom prst="rect">
            <a:avLst/>
          </a:prstGeom>
          <a:noFill/>
          <a:ln/>
        </p:spPr>
        <p:txBody>
          <a:bodyPr wrap="square" lIns="0" tIns="0" rIns="0" bIns="0" rtlCol="0" anchor="t">
            <a:normAutofit/>
          </a:bodyPr>
          <a:lstStyle/>
          <a:p>
            <a:pPr algn="l" indent="0" marL="0">
              <a:lnSpc>
                <a:spcPct val="85000"/>
              </a:lnSpc>
              <a:buNone/>
            </a:pPr>
            <a:r>
              <a:rPr lang="en-US" sz="7200" b="1" spc="-72" kern="100" dirty="0">
                <a:solidFill>
                  <a:srgbClr val="2355B0"/>
                </a:solidFill>
                <a:latin typeface="DM Serif Display" pitchFamily="34" charset="0"/>
                <a:ea typeface="DM Serif Display" pitchFamily="34" charset="-122"/>
                <a:cs typeface="DM Serif Display" pitchFamily="34" charset="-120"/>
              </a:rPr>
              <a:t>Farmer's Market</a:t>
            </a:r>
            <a:endParaRPr lang="en-US" sz="7200" dirty="0"/>
          </a:p>
          <a:p>
            <a:pPr algn="l" indent="0" marL="0">
              <a:lnSpc>
                <a:spcPct val="85000"/>
              </a:lnSpc>
              <a:buNone/>
            </a:pPr>
            <a:r>
              <a:rPr lang="en-US" sz="7200" b="1" spc="-72" kern="100" dirty="0">
                <a:solidFill>
                  <a:srgbClr val="2355B0"/>
                </a:solidFill>
                <a:latin typeface="DM Serif Display" pitchFamily="34" charset="0"/>
                <a:ea typeface="DM Serif Display" pitchFamily="34" charset="-122"/>
                <a:cs typeface="DM Serif Display" pitchFamily="34" charset="-120"/>
              </a:rPr>
              <a:t>Price &amp; Sales Tracker</a:t>
            </a:r>
            <a:endParaRPr lang="en-US" sz="7200" dirty="0"/>
          </a:p>
          <a:p>
            <a:pPr algn="l" indent="0" marL="0">
              <a:lnSpc>
                <a:spcPct val="85000"/>
              </a:lnSpc>
              <a:buNone/>
            </a:pPr>
            <a:r>
              <a:rPr lang="en-US" sz="7200" spc="-72" kern="100" dirty="0">
                <a:solidFill>
                  <a:srgbClr val="4E3D46"/>
                </a:solidFill>
                <a:latin typeface="DM Serif Display" pitchFamily="34" charset="0"/>
                <a:ea typeface="DM Serif Display" pitchFamily="34" charset="-122"/>
                <a:cs typeface="DM Serif Display" pitchFamily="34" charset="-120"/>
              </a:rPr>
              <a:t>Team No : 20</a:t>
            </a:r>
            <a:endParaRPr lang="en-US" sz="7200" dirty="0"/>
          </a:p>
        </p:txBody>
      </p:sp>
      <p:sp>
        <p:nvSpPr>
          <p:cNvPr id="4" name="Text 2"/>
          <p:cNvSpPr/>
          <p:nvPr/>
        </p:nvSpPr>
        <p:spPr>
          <a:xfrm>
            <a:off x="609585" y="4943475"/>
            <a:ext cx="6629234" cy="930275"/>
          </a:xfrm>
          <a:prstGeom prst="rect">
            <a:avLst/>
          </a:prstGeom>
          <a:noFill/>
          <a:ln/>
        </p:spPr>
        <p:txBody>
          <a:bodyPr wrap="square" lIns="0" tIns="0" rIns="0" bIns="0" rtlCol="0" anchor="t"/>
          <a:lstStyle/>
          <a:p>
            <a:pPr algn="l" indent="0" marL="0">
              <a:lnSpc>
                <a:spcPct val="121000"/>
              </a:lnSpc>
              <a:spcAft>
                <a:spcPts val="1500"/>
              </a:spcAft>
              <a:buNone/>
            </a:pPr>
            <a:r>
              <a:rPr lang="en-US" sz="2000" dirty="0">
                <a:solidFill>
                  <a:srgbClr val="1E2238"/>
                </a:solidFill>
                <a:latin typeface="Crimson Text" pitchFamily="34" charset="0"/>
                <a:ea typeface="Crimson Text" pitchFamily="34" charset="-122"/>
                <a:cs typeface="Crimson Text" pitchFamily="34" charset="-120"/>
              </a:rPr>
              <a:t>Gayathri Pingali          Roll No : 2620040006</a:t>
            </a:r>
            <a:endParaRPr lang="en-US" sz="2000" dirty="0"/>
          </a:p>
          <a:p>
            <a:pPr algn="l" indent="0" marL="0">
              <a:lnSpc>
                <a:spcPct val="121000"/>
              </a:lnSpc>
              <a:buNone/>
            </a:pPr>
            <a:r>
              <a:rPr lang="en-US" sz="2000" dirty="0">
                <a:solidFill>
                  <a:srgbClr val="1E2238"/>
                </a:solidFill>
                <a:latin typeface="Crimson Text" pitchFamily="34" charset="0"/>
                <a:ea typeface="Crimson Text" pitchFamily="34" charset="-122"/>
                <a:cs typeface="Crimson Text" pitchFamily="34" charset="-120"/>
              </a:rPr>
              <a:t>Amogh Andra              Roll No : 2620030016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470288" cy="6858000"/>
          </a:xfrm>
          <a:prstGeom prst="rect">
            <a:avLst/>
          </a:prstGeom>
        </p:spPr>
      </p:pic>
      <p:sp>
        <p:nvSpPr>
          <p:cNvPr id="3" name="Text 0"/>
          <p:cNvSpPr/>
          <p:nvPr/>
        </p:nvSpPr>
        <p:spPr>
          <a:xfrm>
            <a:off x="5079873" y="431800"/>
            <a:ext cx="7111822"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1A3F86"/>
                </a:solidFill>
                <a:latin typeface="Rethink Sans SemiBold" pitchFamily="34" charset="0"/>
                <a:ea typeface="Rethink Sans SemiBold" pitchFamily="34" charset="-122"/>
                <a:cs typeface="Rethink Sans SemiBold" pitchFamily="34" charset="-120"/>
              </a:rPr>
              <a:t>FARMER'S MARKET PRICE AND SALES TRACKER</a:t>
            </a:r>
            <a:endParaRPr lang="en-US" sz="1200" dirty="0"/>
          </a:p>
        </p:txBody>
      </p:sp>
      <p:sp>
        <p:nvSpPr>
          <p:cNvPr id="4" name="Text 1"/>
          <p:cNvSpPr/>
          <p:nvPr/>
        </p:nvSpPr>
        <p:spPr>
          <a:xfrm>
            <a:off x="5079873" y="700385"/>
            <a:ext cx="6680033" cy="603448"/>
          </a:xfrm>
          <a:prstGeom prst="rect">
            <a:avLst/>
          </a:prstGeom>
          <a:noFill/>
          <a:ln/>
        </p:spPr>
        <p:txBody>
          <a:bodyPr wrap="none" lIns="0" tIns="0" rIns="0" bIns="0" rtlCol="0" anchor="t"/>
          <a:lstStyle/>
          <a:p>
            <a:pPr algn="l" indent="0" marL="0">
              <a:lnSpc>
                <a:spcPct val="90000"/>
              </a:lnSpc>
              <a:buNone/>
            </a:pPr>
            <a:r>
              <a:rPr lang="en-US" sz="4400" spc="-22" kern="100" dirty="0">
                <a:solidFill>
                  <a:srgbClr val="1E2238"/>
                </a:solidFill>
                <a:latin typeface="DM Serif Display" pitchFamily="34" charset="0"/>
                <a:ea typeface="DM Serif Display" pitchFamily="34" charset="-122"/>
                <a:cs typeface="DM Serif Display" pitchFamily="34" charset="-120"/>
              </a:rPr>
              <a:t>Abstract</a:t>
            </a:r>
            <a:endParaRPr lang="en-US" sz="4400" dirty="0"/>
          </a:p>
        </p:txBody>
      </p:sp>
      <p:sp>
        <p:nvSpPr>
          <p:cNvPr id="5" name="Shape 2"/>
          <p:cNvSpPr/>
          <p:nvPr/>
        </p:nvSpPr>
        <p:spPr>
          <a:xfrm>
            <a:off x="5079873" y="1573709"/>
            <a:ext cx="2204387" cy="38100"/>
          </a:xfrm>
          <a:prstGeom prst="roundRect">
            <a:avLst>
              <a:gd name="adj" fmla="val 49999"/>
            </a:avLst>
          </a:prstGeom>
          <a:solidFill>
            <a:srgbClr val="2355B0"/>
          </a:solidFill>
          <a:ln/>
        </p:spPr>
      </p:sp>
      <p:sp>
        <p:nvSpPr>
          <p:cNvPr id="6" name="Text 3"/>
          <p:cNvSpPr/>
          <p:nvPr/>
        </p:nvSpPr>
        <p:spPr>
          <a:xfrm>
            <a:off x="5079873" y="1792784"/>
            <a:ext cx="6680033" cy="4490442"/>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The Farmer's Market Price and Sales Tracker is a simple Java-based console application designed to help a farmer keep track of crop quantity, market price, and sales. The application allows the user to enter crop details, update the market price, record the quantity sold, and calculate the total sales amount and remaining quantity.</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The project uses fundamental Java programming concepts including variables, data types, Scanner, arithmetic operators, conditional statements, switch statements, loops, arrays, and methods. A menu-driven approach is used to allow the user to select different operations.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The main objective of the project is to demonstrate how basic Java programming concepts can be applied to create a simple and useful application for tracking agricultural sales.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7223639" cy="6858000"/>
          </a:xfrm>
          <a:prstGeom prst="rect">
            <a:avLst/>
          </a:prstGeom>
          <a:solidFill>
            <a:srgbClr val="FFF8F2"/>
          </a:solidFill>
          <a:ln/>
        </p:spPr>
      </p:sp>
      <p:sp>
        <p:nvSpPr>
          <p:cNvPr id="3" name="Text 1"/>
          <p:cNvSpPr/>
          <p:nvPr/>
        </p:nvSpPr>
        <p:spPr>
          <a:xfrm>
            <a:off x="152396" y="1269504"/>
            <a:ext cx="7071243"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1E2238"/>
                </a:solidFill>
                <a:latin typeface="Rethink Sans SemiBold" pitchFamily="34" charset="0"/>
                <a:ea typeface="Rethink Sans SemiBold" pitchFamily="34" charset="-122"/>
                <a:cs typeface="Rethink Sans SemiBold" pitchFamily="34" charset="-120"/>
              </a:rPr>
              <a:t>THE FARMER'S MARKET CHALLENGE</a:t>
            </a:r>
            <a:endParaRPr lang="en-US" sz="1200" dirty="0"/>
          </a:p>
        </p:txBody>
      </p:sp>
      <p:sp>
        <p:nvSpPr>
          <p:cNvPr id="4" name="Text 2"/>
          <p:cNvSpPr/>
          <p:nvPr/>
        </p:nvSpPr>
        <p:spPr>
          <a:xfrm>
            <a:off x="152396" y="1538089"/>
            <a:ext cx="6918846" cy="411460"/>
          </a:xfrm>
          <a:prstGeom prst="rect">
            <a:avLst/>
          </a:prstGeom>
          <a:noFill/>
          <a:ln/>
        </p:spPr>
        <p:txBody>
          <a:bodyPr wrap="none" lIns="0" tIns="0" rIns="0" bIns="0" rtlCol="0" anchor="t"/>
          <a:lstStyle/>
          <a:p>
            <a:pPr algn="l" indent="0" marL="0">
              <a:lnSpc>
                <a:spcPct val="90000"/>
              </a:lnSpc>
              <a:buNone/>
            </a:pPr>
            <a:r>
              <a:rPr lang="en-US" sz="3000" spc="-15" kern="100" dirty="0">
                <a:solidFill>
                  <a:srgbClr val="1E2238"/>
                </a:solidFill>
                <a:latin typeface="DM Serif Display" pitchFamily="34" charset="0"/>
                <a:ea typeface="DM Serif Display" pitchFamily="34" charset="-122"/>
                <a:cs typeface="DM Serif Display" pitchFamily="34" charset="-120"/>
              </a:rPr>
              <a:t>Understanding Problem Statement</a:t>
            </a:r>
            <a:endParaRPr lang="en-US" sz="3000" dirty="0"/>
          </a:p>
        </p:txBody>
      </p:sp>
      <p:sp>
        <p:nvSpPr>
          <p:cNvPr id="5" name="Shape 3"/>
          <p:cNvSpPr/>
          <p:nvPr/>
        </p:nvSpPr>
        <p:spPr>
          <a:xfrm>
            <a:off x="152396" y="2219424"/>
            <a:ext cx="2283066" cy="38100"/>
          </a:xfrm>
          <a:prstGeom prst="roundRect">
            <a:avLst>
              <a:gd name="adj" fmla="val 49999"/>
            </a:avLst>
          </a:prstGeom>
          <a:solidFill>
            <a:srgbClr val="2355B0"/>
          </a:solidFill>
          <a:ln/>
        </p:spPr>
      </p:sp>
      <p:sp>
        <p:nvSpPr>
          <p:cNvPr id="6" name="Text 4"/>
          <p:cNvSpPr/>
          <p:nvPr/>
        </p:nvSpPr>
        <p:spPr>
          <a:xfrm>
            <a:off x="152396" y="2505174"/>
            <a:ext cx="7071243" cy="331391"/>
          </a:xfrm>
          <a:prstGeom prst="rect">
            <a:avLst/>
          </a:prstGeom>
          <a:noFill/>
          <a:ln/>
        </p:spPr>
        <p:txBody>
          <a:bodyPr wrap="none" lIns="0" tIns="0" rIns="0" bIns="0" rtlCol="0" anchor="t"/>
          <a:lstStyle/>
          <a:p>
            <a:pPr algn="l" indent="0" marL="0">
              <a:lnSpc>
                <a:spcPct val="121000"/>
              </a:lnSpc>
              <a:buNone/>
            </a:pPr>
            <a:r>
              <a:rPr lang="en-US" sz="1800" dirty="0">
                <a:solidFill>
                  <a:srgbClr val="1E2238"/>
                </a:solidFill>
                <a:latin typeface="Archivo Black" pitchFamily="34" charset="0"/>
                <a:ea typeface="Archivo Black" pitchFamily="34" charset="-122"/>
                <a:cs typeface="Archivo Black" pitchFamily="34" charset="-120"/>
              </a:rPr>
              <a:t>Problem Statement</a:t>
            </a:r>
            <a:endParaRPr lang="en-US" sz="1800" dirty="0"/>
          </a:p>
        </p:txBody>
      </p:sp>
      <p:sp>
        <p:nvSpPr>
          <p:cNvPr id="7" name="Text 5"/>
          <p:cNvSpPr/>
          <p:nvPr/>
        </p:nvSpPr>
        <p:spPr>
          <a:xfrm>
            <a:off x="152396" y="3030240"/>
            <a:ext cx="6918846" cy="2558256"/>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Farmers need to keep track of the quantity of crops available, their current market price, and the quantity sold. Managing these calculations manually can be inconvenient, especially when prices change.</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The Farmer's Market Price and Sales Tracker provides a simple Java-based solution that allows the user to enter crop information, update prices, record sales, and calculate the total sales amount and remaining quantity.</a:t>
            </a:r>
            <a:endParaRPr lang="en-US" sz="1700" dirty="0"/>
          </a:p>
        </p:txBody>
      </p:sp>
      <p:sp>
        <p:nvSpPr>
          <p:cNvPr id="8" name="Shape 6"/>
          <p:cNvSpPr/>
          <p:nvPr/>
        </p:nvSpPr>
        <p:spPr>
          <a:xfrm>
            <a:off x="7375936" y="0"/>
            <a:ext cx="4815759" cy="6858000"/>
          </a:xfrm>
          <a:prstGeom prst="rect">
            <a:avLst/>
          </a:prstGeom>
          <a:solidFill>
            <a:srgbClr val="FFF8F2"/>
          </a:solidFill>
          <a:ln/>
        </p:spPr>
      </p:sp>
      <p:pic>
        <p:nvPicPr>
          <p:cNvPr id="9" name="Image 0" descr="preencoded.png">    </p:cNvPr>
          <p:cNvPicPr>
            <a:picLocks noChangeAspect="1"/>
          </p:cNvPicPr>
          <p:nvPr/>
        </p:nvPicPr>
        <p:blipFill>
          <a:blip r:embed="rId1"/>
          <a:stretch>
            <a:fillRect/>
          </a:stretch>
        </p:blipFill>
        <p:spPr>
          <a:xfrm>
            <a:off x="7528332" y="152400"/>
            <a:ext cx="4510967" cy="6553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7223639" cy="6923286"/>
          </a:xfrm>
          <a:prstGeom prst="rect">
            <a:avLst/>
          </a:prstGeom>
          <a:solidFill>
            <a:srgbClr val="FFF8F2"/>
          </a:solidFill>
          <a:ln/>
        </p:spPr>
      </p:sp>
      <p:sp>
        <p:nvSpPr>
          <p:cNvPr id="3" name="Text 1"/>
          <p:cNvSpPr/>
          <p:nvPr/>
        </p:nvSpPr>
        <p:spPr>
          <a:xfrm>
            <a:off x="152396" y="152400"/>
            <a:ext cx="7071243"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1E2238"/>
                </a:solidFill>
                <a:latin typeface="Rethink Sans SemiBold" pitchFamily="34" charset="0"/>
                <a:ea typeface="Rethink Sans SemiBold" pitchFamily="34" charset="-122"/>
                <a:cs typeface="Rethink Sans SemiBold" pitchFamily="34" charset="-120"/>
              </a:rPr>
              <a:t>CO 1</a:t>
            </a:r>
            <a:endParaRPr lang="en-US" sz="1200" dirty="0"/>
          </a:p>
        </p:txBody>
      </p:sp>
      <p:sp>
        <p:nvSpPr>
          <p:cNvPr id="4" name="Text 2"/>
          <p:cNvSpPr/>
          <p:nvPr/>
        </p:nvSpPr>
        <p:spPr>
          <a:xfrm>
            <a:off x="152396" y="420985"/>
            <a:ext cx="6918846" cy="603448"/>
          </a:xfrm>
          <a:prstGeom prst="rect">
            <a:avLst/>
          </a:prstGeom>
          <a:noFill/>
          <a:ln/>
        </p:spPr>
        <p:txBody>
          <a:bodyPr wrap="none" lIns="0" tIns="0" rIns="0" bIns="0" rtlCol="0" anchor="t"/>
          <a:lstStyle/>
          <a:p>
            <a:pPr algn="l" indent="0" marL="0">
              <a:lnSpc>
                <a:spcPct val="90000"/>
              </a:lnSpc>
              <a:buNone/>
            </a:pPr>
            <a:r>
              <a:rPr lang="en-US" sz="4400" spc="-22" kern="100" dirty="0">
                <a:solidFill>
                  <a:srgbClr val="1E2238"/>
                </a:solidFill>
                <a:latin typeface="DM Serif Display" pitchFamily="34" charset="0"/>
                <a:ea typeface="DM Serif Display" pitchFamily="34" charset="-122"/>
                <a:cs typeface="DM Serif Display" pitchFamily="34" charset="-120"/>
              </a:rPr>
              <a:t>CO 1 Topics</a:t>
            </a:r>
            <a:endParaRPr lang="en-US" sz="4400" dirty="0"/>
          </a:p>
        </p:txBody>
      </p:sp>
      <p:sp>
        <p:nvSpPr>
          <p:cNvPr id="5" name="Text 3"/>
          <p:cNvSpPr/>
          <p:nvPr/>
        </p:nvSpPr>
        <p:spPr>
          <a:xfrm>
            <a:off x="152396" y="1218109"/>
            <a:ext cx="6918846" cy="335260"/>
          </a:xfrm>
          <a:prstGeom prst="rect">
            <a:avLst/>
          </a:prstGeom>
          <a:noFill/>
          <a:ln/>
        </p:spPr>
        <p:txBody>
          <a:bodyPr wrap="none" lIns="0" tIns="0" rIns="0" bIns="0" rtlCol="0" anchor="t"/>
          <a:lstStyle/>
          <a:p>
            <a:pPr algn="l" indent="0" marL="0">
              <a:lnSpc>
                <a:spcPct val="100000"/>
              </a:lnSpc>
              <a:buNone/>
            </a:pPr>
            <a:r>
              <a:rPr lang="en-US" sz="2200" dirty="0">
                <a:solidFill>
                  <a:srgbClr val="1E2238"/>
                </a:solidFill>
                <a:latin typeface="Rethink Sans SemiBold" pitchFamily="34" charset="0"/>
                <a:ea typeface="Rethink Sans SemiBold" pitchFamily="34" charset="-122"/>
                <a:cs typeface="Rethink Sans SemiBold" pitchFamily="34" charset="-120"/>
              </a:rPr>
              <a:t>Problem Solving</a:t>
            </a:r>
            <a:endParaRPr lang="en-US" sz="2200" dirty="0"/>
          </a:p>
        </p:txBody>
      </p:sp>
      <p:sp>
        <p:nvSpPr>
          <p:cNvPr id="6" name="Text 4"/>
          <p:cNvSpPr/>
          <p:nvPr/>
        </p:nvSpPr>
        <p:spPr>
          <a:xfrm>
            <a:off x="152396" y="1708944"/>
            <a:ext cx="3306977" cy="4555232"/>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Algorithms &amp; Flowcharts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Java Environment</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Java Program Structure</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Java Basics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Data Types &amp; Variables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Constants, Identifiers &amp; Literals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Operators</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Arithmetic, Relational, Logical</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Assignment, Ternary, Unary</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Special &amp; Bitwise</a:t>
            </a:r>
            <a:endParaRPr lang="en-US" sz="1700" dirty="0"/>
          </a:p>
        </p:txBody>
      </p:sp>
      <p:sp>
        <p:nvSpPr>
          <p:cNvPr id="7" name="Text 5"/>
          <p:cNvSpPr/>
          <p:nvPr/>
        </p:nvSpPr>
        <p:spPr>
          <a:xfrm>
            <a:off x="3764166" y="1708944"/>
            <a:ext cx="3307077" cy="246112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Type Casting</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Expression Evaluation</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Precedence &amp; Associativity</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Console I/O</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Formatted Printing</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Scanner</a:t>
            </a:r>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 Input</a:t>
            </a:r>
            <a:endParaRPr lang="en-US" sz="1700" dirty="0"/>
          </a:p>
        </p:txBody>
      </p:sp>
      <p:pic>
        <p:nvPicPr>
          <p:cNvPr id="8" name="Image 0" descr="preencoded.png">    </p:cNvPr>
          <p:cNvPicPr>
            <a:picLocks noChangeAspect="1"/>
          </p:cNvPicPr>
          <p:nvPr/>
        </p:nvPicPr>
        <p:blipFill>
          <a:blip r:embed="rId1"/>
          <a:stretch>
            <a:fillRect/>
          </a:stretch>
        </p:blipFill>
        <p:spPr>
          <a:xfrm>
            <a:off x="7528332" y="152400"/>
            <a:ext cx="4510967" cy="66184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52396" y="152400"/>
            <a:ext cx="4510967" cy="6553200"/>
          </a:xfrm>
          <a:prstGeom prst="rect">
            <a:avLst/>
          </a:prstGeom>
        </p:spPr>
      </p:pic>
      <p:sp>
        <p:nvSpPr>
          <p:cNvPr id="3" name="Shape 0"/>
          <p:cNvSpPr/>
          <p:nvPr/>
        </p:nvSpPr>
        <p:spPr>
          <a:xfrm>
            <a:off x="4968056" y="0"/>
            <a:ext cx="7223639" cy="6858000"/>
          </a:xfrm>
          <a:prstGeom prst="rect">
            <a:avLst/>
          </a:prstGeom>
          <a:solidFill>
            <a:srgbClr val="FFF8F2"/>
          </a:solidFill>
          <a:ln/>
        </p:spPr>
      </p:sp>
      <p:sp>
        <p:nvSpPr>
          <p:cNvPr id="4" name="Text 1"/>
          <p:cNvSpPr/>
          <p:nvPr/>
        </p:nvSpPr>
        <p:spPr>
          <a:xfrm>
            <a:off x="5120452" y="1205805"/>
            <a:ext cx="6918846" cy="603448"/>
          </a:xfrm>
          <a:prstGeom prst="rect">
            <a:avLst/>
          </a:prstGeom>
          <a:noFill/>
          <a:ln/>
        </p:spPr>
        <p:txBody>
          <a:bodyPr wrap="none" lIns="0" tIns="0" rIns="0" bIns="0" rtlCol="0" anchor="t"/>
          <a:lstStyle/>
          <a:p>
            <a:pPr algn="l" indent="0" marL="0">
              <a:lnSpc>
                <a:spcPct val="90000"/>
              </a:lnSpc>
              <a:buNone/>
            </a:pPr>
            <a:r>
              <a:rPr lang="en-US" sz="4400" spc="-22" kern="100" dirty="0">
                <a:solidFill>
                  <a:srgbClr val="1E2238"/>
                </a:solidFill>
                <a:latin typeface="DM Serif Display" pitchFamily="34" charset="0"/>
                <a:ea typeface="DM Serif Display" pitchFamily="34" charset="-122"/>
                <a:cs typeface="DM Serif Display" pitchFamily="34" charset="-120"/>
              </a:rPr>
              <a:t>Co 2 TOPICS</a:t>
            </a:r>
            <a:endParaRPr lang="en-US" sz="4400" dirty="0"/>
          </a:p>
        </p:txBody>
      </p:sp>
      <p:sp>
        <p:nvSpPr>
          <p:cNvPr id="5" name="Text 2"/>
          <p:cNvSpPr/>
          <p:nvPr/>
        </p:nvSpPr>
        <p:spPr>
          <a:xfrm>
            <a:off x="5120452" y="2025154"/>
            <a:ext cx="7071243" cy="313035"/>
          </a:xfrm>
          <a:prstGeom prst="rect">
            <a:avLst/>
          </a:prstGeom>
          <a:noFill/>
          <a:ln/>
        </p:spPr>
        <p:txBody>
          <a:bodyPr wrap="none" lIns="0" tIns="0" rIns="0" bIns="0" rtlCol="0" anchor="t"/>
          <a:lstStyle/>
          <a:p>
            <a:pPr algn="l" indent="0" marL="0">
              <a:lnSpc>
                <a:spcPct val="121000"/>
              </a:lnSpc>
              <a:buNone/>
            </a:pPr>
            <a:r>
              <a:rPr lang="en-US" sz="1700" b="1" dirty="0">
                <a:solidFill>
                  <a:srgbClr val="1E2238"/>
                </a:solidFill>
                <a:latin typeface="Rethink Sans Bold" pitchFamily="34" charset="0"/>
                <a:ea typeface="Rethink Sans Bold" pitchFamily="34" charset="-122"/>
                <a:cs typeface="Rethink Sans Bold" pitchFamily="34" charset="-120"/>
              </a:rPr>
              <a:t>Module 2 – Short Topics</a:t>
            </a:r>
            <a:endParaRPr lang="en-US" sz="1700" dirty="0"/>
          </a:p>
        </p:txBody>
      </p:sp>
      <p:sp>
        <p:nvSpPr>
          <p:cNvPr id="6" name="Text 3"/>
          <p:cNvSpPr/>
          <p:nvPr/>
        </p:nvSpPr>
        <p:spPr>
          <a:xfrm>
            <a:off x="5120452" y="2531864"/>
            <a:ext cx="3306977" cy="2515096"/>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Control Flow</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Conditional Statements</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if</a:t>
            </a:r>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 </a:t>
            </a:r>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if-else</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Nested </a:t>
            </a:r>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if</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if-else-if</a:t>
            </a:r>
            <a:endParaRPr lang="en-US" sz="1700" dirty="0"/>
          </a:p>
          <a:p>
            <a:pPr algn="l" marL="34544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switch</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break</a:t>
            </a:r>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 </a:t>
            </a:r>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default</a:t>
            </a:r>
            <a:endParaRPr lang="en-US" sz="1700" dirty="0"/>
          </a:p>
        </p:txBody>
      </p:sp>
      <p:sp>
        <p:nvSpPr>
          <p:cNvPr id="7" name="Text 4"/>
          <p:cNvSpPr/>
          <p:nvPr/>
        </p:nvSpPr>
        <p:spPr>
          <a:xfrm>
            <a:off x="8732222" y="2531864"/>
            <a:ext cx="3307077" cy="2882106"/>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Compound Statements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Loops</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while</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do-while</a:t>
            </a:r>
            <a:endParaRPr lang="en-US" sz="1700" dirty="0"/>
          </a:p>
          <a:p>
            <a:pPr algn="l" lvl="1" marL="69088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for</a:t>
            </a:r>
            <a:endParaRPr lang="en-US" sz="1700" dirty="0"/>
          </a:p>
          <a:p>
            <a:pPr algn="l" marL="34544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continue</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Infinite Loops</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Nested Loops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7223639" cy="6858000"/>
          </a:xfrm>
          <a:prstGeom prst="rect">
            <a:avLst/>
          </a:prstGeom>
          <a:solidFill>
            <a:srgbClr val="FFF8F2"/>
          </a:solidFill>
          <a:ln/>
        </p:spPr>
      </p:sp>
      <p:sp>
        <p:nvSpPr>
          <p:cNvPr id="3" name="Text 1"/>
          <p:cNvSpPr/>
          <p:nvPr/>
        </p:nvSpPr>
        <p:spPr>
          <a:xfrm>
            <a:off x="152396" y="823615"/>
            <a:ext cx="7071243"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1E2238"/>
                </a:solidFill>
                <a:latin typeface="Rethink Sans SemiBold" pitchFamily="34" charset="0"/>
                <a:ea typeface="Rethink Sans SemiBold" pitchFamily="34" charset="-122"/>
                <a:cs typeface="Rethink Sans SemiBold" pitchFamily="34" charset="-120"/>
              </a:rPr>
              <a:t>CO 3</a:t>
            </a:r>
            <a:endParaRPr lang="en-US" sz="1200" dirty="0"/>
          </a:p>
        </p:txBody>
      </p:sp>
      <p:sp>
        <p:nvSpPr>
          <p:cNvPr id="4" name="Text 2"/>
          <p:cNvSpPr/>
          <p:nvPr/>
        </p:nvSpPr>
        <p:spPr>
          <a:xfrm>
            <a:off x="152396" y="1092200"/>
            <a:ext cx="6918846" cy="603448"/>
          </a:xfrm>
          <a:prstGeom prst="rect">
            <a:avLst/>
          </a:prstGeom>
          <a:noFill/>
          <a:ln/>
        </p:spPr>
        <p:txBody>
          <a:bodyPr wrap="none" lIns="0" tIns="0" rIns="0" bIns="0" rtlCol="0" anchor="t"/>
          <a:lstStyle/>
          <a:p>
            <a:pPr algn="l" indent="0" marL="0">
              <a:lnSpc>
                <a:spcPct val="90000"/>
              </a:lnSpc>
              <a:buNone/>
            </a:pPr>
            <a:r>
              <a:rPr lang="en-US" sz="4400" spc="-22" kern="100" dirty="0">
                <a:solidFill>
                  <a:srgbClr val="1E2238"/>
                </a:solidFill>
                <a:latin typeface="DM Serif Display" pitchFamily="34" charset="0"/>
                <a:ea typeface="DM Serif Display" pitchFamily="34" charset="-122"/>
                <a:cs typeface="DM Serif Display" pitchFamily="34" charset="-120"/>
              </a:rPr>
              <a:t>CO 3 Topics</a:t>
            </a:r>
            <a:endParaRPr lang="en-US" sz="4400" dirty="0"/>
          </a:p>
        </p:txBody>
      </p:sp>
      <p:sp>
        <p:nvSpPr>
          <p:cNvPr id="5" name="Text 3"/>
          <p:cNvSpPr/>
          <p:nvPr/>
        </p:nvSpPr>
        <p:spPr>
          <a:xfrm>
            <a:off x="152396" y="1911548"/>
            <a:ext cx="7071243" cy="313035"/>
          </a:xfrm>
          <a:prstGeom prst="rect">
            <a:avLst/>
          </a:prstGeom>
          <a:noFill/>
          <a:ln/>
        </p:spPr>
        <p:txBody>
          <a:bodyPr wrap="none" lIns="0" tIns="0" rIns="0" bIns="0" rtlCol="0" anchor="t"/>
          <a:lstStyle/>
          <a:p>
            <a:pPr algn="l" indent="0" marL="0">
              <a:lnSpc>
                <a:spcPct val="121000"/>
              </a:lnSpc>
              <a:buNone/>
            </a:pPr>
            <a:r>
              <a:rPr lang="en-US" sz="1700" b="1" dirty="0">
                <a:solidFill>
                  <a:srgbClr val="1E2238"/>
                </a:solidFill>
                <a:latin typeface="Rethink Sans Bold" pitchFamily="34" charset="0"/>
                <a:ea typeface="Rethink Sans Bold" pitchFamily="34" charset="-122"/>
                <a:cs typeface="Rethink Sans Bold" pitchFamily="34" charset="-120"/>
              </a:rPr>
              <a:t>Module 3 – Short Topics</a:t>
            </a:r>
            <a:endParaRPr lang="en-US" sz="1700" dirty="0"/>
          </a:p>
        </p:txBody>
      </p:sp>
      <p:sp>
        <p:nvSpPr>
          <p:cNvPr id="6" name="Text 4"/>
          <p:cNvSpPr/>
          <p:nvPr/>
        </p:nvSpPr>
        <p:spPr>
          <a:xfrm>
            <a:off x="152396" y="2418259"/>
            <a:ext cx="3383176" cy="2461121"/>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Modular Programming</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Methods</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Definition &amp; Invocation</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Parameters &amp; Return Values</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Method Overloading</a:t>
            </a:r>
            <a:endParaRPr lang="en-US" sz="1700" dirty="0"/>
          </a:p>
          <a:p>
            <a:pPr algn="l" marL="345440" indent="-345440">
              <a:lnSpc>
                <a:spcPct val="121000"/>
              </a:lnSpc>
              <a:buSzPct val="100000"/>
              <a:buChar char="•"/>
            </a:pPr>
            <a:r>
              <a:rPr lang="en-US" sz="1700" dirty="0">
                <a:solidFill>
                  <a:srgbClr val="1E2238"/>
                </a:solidFill>
                <a:latin typeface="Carlito" pitchFamily="34" charset="0"/>
                <a:ea typeface="Carlito" pitchFamily="34" charset="-122"/>
                <a:cs typeface="Carlito" pitchFamily="34" charset="-120"/>
              </a:rPr>
              <a:t>for-each</a:t>
            </a:r>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 Loop</a:t>
            </a:r>
            <a:endParaRPr lang="en-US" sz="1700" dirty="0"/>
          </a:p>
        </p:txBody>
      </p:sp>
      <p:sp>
        <p:nvSpPr>
          <p:cNvPr id="7" name="Text 5"/>
          <p:cNvSpPr/>
          <p:nvPr/>
        </p:nvSpPr>
        <p:spPr>
          <a:xfrm>
            <a:off x="3687968" y="2418259"/>
            <a:ext cx="3383275" cy="3616127"/>
          </a:xfrm>
          <a:prstGeom prst="rect">
            <a:avLst/>
          </a:prstGeom>
          <a:noFill/>
          <a:ln/>
        </p:spPr>
        <p:txBody>
          <a:bodyPr wrap="square" lIns="0" tIns="0" rIns="0" bIns="0" rtlCol="0" anchor="t">
            <a:normAutofit/>
          </a:bodyPr>
          <a:lstStyle/>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Recursion</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Base Case</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Recursive Case</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1D Arrays</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Traversal</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Searching</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Sum &amp; Average</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Counting</a:t>
            </a:r>
            <a:endParaRPr lang="en-US" sz="1700" dirty="0"/>
          </a:p>
          <a:p>
            <a:pPr algn="l" marL="34544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2D Arrays</a:t>
            </a:r>
            <a:endParaRPr lang="en-US" sz="1700" dirty="0"/>
          </a:p>
          <a:p>
            <a:pPr algn="l" lvl="1" marL="690880" indent="-345440">
              <a:lnSpc>
                <a:spcPct val="121000"/>
              </a:lnSpc>
              <a:buSzPct val="100000"/>
              <a:buChar char="◦"/>
            </a:pPr>
            <a:r>
              <a:rPr lang="en-US" sz="1700" dirty="0">
                <a:solidFill>
                  <a:srgbClr val="1E2238"/>
                </a:solidFill>
                <a:latin typeface="Rethink Sans" pitchFamily="34" charset="0"/>
                <a:ea typeface="Rethink Sans" pitchFamily="34" charset="-122"/>
                <a:cs typeface="Rethink Sans" pitchFamily="34" charset="-120"/>
              </a:rPr>
              <a:t>Matrix Arithmetic</a:t>
            </a:r>
            <a:endParaRPr lang="en-US" sz="1700" dirty="0"/>
          </a:p>
        </p:txBody>
      </p:sp>
      <p:pic>
        <p:nvPicPr>
          <p:cNvPr id="8" name="Image 0" descr="preencoded.png">    </p:cNvPr>
          <p:cNvPicPr>
            <a:picLocks noChangeAspect="1"/>
          </p:cNvPicPr>
          <p:nvPr/>
        </p:nvPicPr>
        <p:blipFill>
          <a:blip r:embed="rId1"/>
          <a:stretch>
            <a:fillRect/>
          </a:stretch>
        </p:blipFill>
        <p:spPr>
          <a:xfrm>
            <a:off x="7528332" y="152400"/>
            <a:ext cx="4510967" cy="6553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3429000"/>
          </a:xfrm>
          <a:prstGeom prst="rect">
            <a:avLst/>
          </a:prstGeom>
        </p:spPr>
      </p:pic>
      <p:sp>
        <p:nvSpPr>
          <p:cNvPr id="3" name="Shape 0"/>
          <p:cNvSpPr/>
          <p:nvPr/>
        </p:nvSpPr>
        <p:spPr>
          <a:xfrm>
            <a:off x="0" y="3429000"/>
            <a:ext cx="12191695" cy="3429000"/>
          </a:xfrm>
          <a:prstGeom prst="rect">
            <a:avLst/>
          </a:prstGeom>
          <a:solidFill>
            <a:srgbClr val="FFF8F2"/>
          </a:solidFill>
          <a:ln/>
        </p:spPr>
      </p:sp>
      <p:sp>
        <p:nvSpPr>
          <p:cNvPr id="4" name="Text 1"/>
          <p:cNvSpPr/>
          <p:nvPr/>
        </p:nvSpPr>
        <p:spPr>
          <a:xfrm>
            <a:off x="304792" y="3733800"/>
            <a:ext cx="11886903" cy="182860"/>
          </a:xfrm>
          <a:prstGeom prst="rect">
            <a:avLst/>
          </a:prstGeom>
          <a:noFill/>
          <a:ln/>
        </p:spPr>
        <p:txBody>
          <a:bodyPr wrap="none" lIns="0" tIns="0" rIns="0" bIns="0" rtlCol="0" anchor="t"/>
          <a:lstStyle/>
          <a:p>
            <a:pPr algn="l" indent="0" marL="0">
              <a:lnSpc>
                <a:spcPct val="100000"/>
              </a:lnSpc>
              <a:buNone/>
            </a:pPr>
            <a:r>
              <a:rPr lang="en-US" sz="1200" spc="168" kern="100" dirty="0">
                <a:solidFill>
                  <a:srgbClr val="1E2238"/>
                </a:solidFill>
                <a:latin typeface="Rethink Sans SemiBold" pitchFamily="34" charset="0"/>
                <a:ea typeface="Rethink Sans SemiBold" pitchFamily="34" charset="-122"/>
                <a:cs typeface="Rethink Sans SemiBold" pitchFamily="34" charset="-120"/>
              </a:rPr>
              <a:t>PROJECT SUBMISSION</a:t>
            </a:r>
            <a:endParaRPr lang="en-US" sz="1200" dirty="0"/>
          </a:p>
        </p:txBody>
      </p:sp>
      <p:sp>
        <p:nvSpPr>
          <p:cNvPr id="5" name="Text 2"/>
          <p:cNvSpPr/>
          <p:nvPr/>
        </p:nvSpPr>
        <p:spPr>
          <a:xfrm>
            <a:off x="304792" y="4002385"/>
            <a:ext cx="9905752" cy="1865312"/>
          </a:xfrm>
          <a:prstGeom prst="rect">
            <a:avLst/>
          </a:prstGeom>
          <a:noFill/>
          <a:ln/>
        </p:spPr>
        <p:txBody>
          <a:bodyPr wrap="square" lIns="0" tIns="0" rIns="0" bIns="0" rtlCol="0" anchor="t">
            <a:normAutofit/>
          </a:bodyPr>
          <a:lstStyle/>
          <a:p>
            <a:pPr algn="l" indent="0" marL="0">
              <a:lnSpc>
                <a:spcPct val="85000"/>
              </a:lnSpc>
              <a:buNone/>
            </a:pPr>
            <a:r>
              <a:rPr lang="en-US" sz="7200" spc="-72" kern="100" dirty="0">
                <a:solidFill>
                  <a:srgbClr val="2355B0"/>
                </a:solidFill>
                <a:latin typeface="DM Serif Display" pitchFamily="34" charset="0"/>
                <a:ea typeface="DM Serif Display" pitchFamily="34" charset="-122"/>
                <a:cs typeface="DM Serif Display" pitchFamily="34" charset="-120"/>
              </a:rPr>
              <a:t>Geo Tag Photo and git hub link</a:t>
            </a:r>
            <a:endParaRPr lang="en-US" sz="7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2026-10-03T05:39:50Z</dcterms:created>
  <dcterms:modified xsi:type="dcterms:W3CDTF">2026-10-03T05:39:50Z</dcterms:modified>
</cp:coreProperties>
</file>